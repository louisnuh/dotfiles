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6000" b="1">
                <a:solidFill>
                  <a:srgbClr val="0B3B71"/>
                </a:solidFill>
                <a:latin typeface="Arial"/>
              </a:defRPr>
            </a:pPr>
            <a:r>
              <a:t>科技商业演示模板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CAAAA"/>
                </a:solidFill>
                <a:latin typeface="Arial"/>
              </a:defRPr>
            </a:pPr>
            <a:r>
              <a:t>Tech Business Presentation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3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项目核心要点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C3C3C"/>
                </a:solidFill>
                <a:latin typeface="Arial"/>
              </a:defRPr>
            </a:pPr>
            <a:r>
              <a:t>技术创新驱动商业增长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C3C3C"/>
                </a:solidFill>
                <a:latin typeface="Arial"/>
              </a:defRPr>
            </a:pPr>
            <a:r>
              <a:t>数据分析赋能决策优化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C3C3C"/>
                </a:solidFill>
                <a:latin typeface="Arial"/>
              </a:defRPr>
            </a:pPr>
            <a:r>
              <a:t>用户体验设计提升转化率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C3C3C"/>
                </a:solidFill>
                <a:latin typeface="Arial"/>
              </a:defRPr>
            </a:pPr>
            <a:r>
              <a:t>敏捷开发加速产品迭代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C3C3C"/>
                </a:solidFill>
                <a:latin typeface="Arial"/>
              </a:defRPr>
            </a:pPr>
            <a:r>
              <a:t>云计算基础设施降低成本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3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解决方案对比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0B3B71"/>
                </a:solidFill>
                <a:latin typeface="Arial"/>
              </a:defRPr>
            </a:pPr>
            <a:r>
              <a:t>传统方案</a:t>
            </a:r>
          </a:p>
          <a:p>
            <a:pPr>
              <a:spcBef>
                <a:spcPts val="800"/>
              </a:spcBef>
              <a:defRPr sz="2000">
                <a:solidFill>
                  <a:srgbClr val="3C3C3C"/>
                </a:solidFill>
                <a:latin typeface="Arial"/>
              </a:defRPr>
            </a:pPr>
            <a:r>
              <a:t>部署周期长</a:t>
            </a:r>
          </a:p>
          <a:p>
            <a:pPr>
              <a:spcBef>
                <a:spcPts val="800"/>
              </a:spcBef>
              <a:defRPr sz="2000">
                <a:solidFill>
                  <a:srgbClr val="3C3C3C"/>
                </a:solidFill>
                <a:latin typeface="Arial"/>
              </a:defRPr>
            </a:pPr>
            <a:r>
              <a:t>维护成本高</a:t>
            </a:r>
          </a:p>
          <a:p>
            <a:pPr>
              <a:spcBef>
                <a:spcPts val="800"/>
              </a:spcBef>
              <a:defRPr sz="2000">
                <a:solidFill>
                  <a:srgbClr val="3C3C3C"/>
                </a:solidFill>
                <a:latin typeface="Arial"/>
              </a:defRPr>
            </a:pPr>
            <a:r>
              <a:t>扩展性受限</a:t>
            </a:r>
          </a:p>
          <a:p>
            <a:pPr>
              <a:spcBef>
                <a:spcPts val="800"/>
              </a:spcBef>
              <a:defRPr sz="2000">
                <a:solidFill>
                  <a:srgbClr val="3C3C3C"/>
                </a:solidFill>
                <a:latin typeface="Arial"/>
              </a:defRPr>
            </a:pPr>
            <a:r>
              <a:t>技术债务累积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0CAAAA"/>
                </a:solidFill>
                <a:latin typeface="Arial"/>
              </a:defRPr>
            </a:pPr>
            <a:r>
              <a:t>现代化方案</a:t>
            </a:r>
          </a:p>
          <a:p>
            <a:pPr>
              <a:spcBef>
                <a:spcPts val="800"/>
              </a:spcBef>
              <a:defRPr sz="2000">
                <a:solidFill>
                  <a:srgbClr val="3C3C3C"/>
                </a:solidFill>
                <a:latin typeface="Arial"/>
              </a:defRPr>
            </a:pPr>
            <a:r>
              <a:t>快速部署上线</a:t>
            </a:r>
          </a:p>
          <a:p>
            <a:pPr>
              <a:spcBef>
                <a:spcPts val="800"/>
              </a:spcBef>
              <a:defRPr sz="2000">
                <a:solidFill>
                  <a:srgbClr val="3C3C3C"/>
                </a:solidFill>
                <a:latin typeface="Arial"/>
              </a:defRPr>
            </a:pPr>
            <a:r>
              <a:t>自动化运维</a:t>
            </a:r>
          </a:p>
          <a:p>
            <a:pPr>
              <a:spcBef>
                <a:spcPts val="800"/>
              </a:spcBef>
              <a:defRPr sz="2000">
                <a:solidFill>
                  <a:srgbClr val="3C3C3C"/>
                </a:solidFill>
                <a:latin typeface="Arial"/>
              </a:defRPr>
            </a:pPr>
            <a:r>
              <a:t>弹性伸缩能力</a:t>
            </a:r>
          </a:p>
          <a:p>
            <a:pPr>
              <a:spcBef>
                <a:spcPts val="800"/>
              </a:spcBef>
              <a:defRPr sz="2000">
                <a:solidFill>
                  <a:srgbClr val="3C3C3C"/>
                </a:solidFill>
                <a:latin typeface="Arial"/>
              </a:defRPr>
            </a:pPr>
            <a:r>
              <a:t>持续优化迭代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3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业务增长指标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2286000" cy="1828800"/>
          </a:xfrm>
          <a:prstGeom prst="roundRect">
            <a:avLst/>
          </a:prstGeom>
          <a:solidFill>
            <a:srgbClr val="F5F7FA"/>
          </a:solidFill>
          <a:ln w="38100">
            <a:solidFill>
              <a:srgbClr val="0C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CAAAA"/>
                </a:solidFill>
                <a:latin typeface="Arial"/>
              </a:defRPr>
            </a:pPr>
            <a:r>
              <a:t>+156%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C3C3C"/>
                </a:solidFill>
                <a:latin typeface="Arial"/>
              </a:defRPr>
            </a:pPr>
            <a:r>
              <a:t>用户增长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828800"/>
            <a:ext cx="2286000" cy="1828800"/>
          </a:xfrm>
          <a:prstGeom prst="roundRect">
            <a:avLst/>
          </a:prstGeom>
          <a:solidFill>
            <a:srgbClr val="F5F7FA"/>
          </a:solidFill>
          <a:ln w="38100">
            <a:solidFill>
              <a:srgbClr val="0B3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1031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B3B71"/>
                </a:solidFill>
                <a:latin typeface="Arial"/>
              </a:defRPr>
            </a:pPr>
            <a:r>
              <a:t>+89%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9260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C3C3C"/>
                </a:solidFill>
                <a:latin typeface="Arial"/>
              </a:defRPr>
            </a:pPr>
            <a:r>
              <a:t>收入提升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828800"/>
            <a:ext cx="2286000" cy="1828800"/>
          </a:xfrm>
          <a:prstGeom prst="roundRect">
            <a:avLst/>
          </a:prstGeom>
          <a:solidFill>
            <a:srgbClr val="F5F7FA"/>
          </a:solidFill>
          <a:ln w="38100">
            <a:solidFill>
              <a:srgbClr val="0C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CAAAA"/>
                </a:solidFill>
                <a:latin typeface="Arial"/>
              </a:defRPr>
            </a:pPr>
            <a:r>
              <a:t>-42%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9260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C3C3C"/>
                </a:solidFill>
                <a:latin typeface="Arial"/>
              </a:defRPr>
            </a:pPr>
            <a:r>
              <a:t>成本降低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3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Arial"/>
              </a:defRPr>
            </a:pPr>
            <a:r>
              <a:t>感谢观看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CAAAA"/>
                </a:solidFill>
                <a:latin typeface="Arial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