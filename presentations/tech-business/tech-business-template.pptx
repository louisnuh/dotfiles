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8" r:id="rId2"/>
  </p:sldIdLst>
  <p:sldSz cx="12191695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E6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15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A949FE-16C5-4DD1-88AD-01A994FBFA42}" type="datetimeFigureOut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4851A8-F5DF-4DF0-86B1-15A36FE6AD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203182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DF49FB3-3868-E96A-91D9-D1C8B7837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0114942-1C05-53E1-4667-B2BCE27819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65E0F58-8AFB-EE49-C9B2-2768578AE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FE9F1-2E53-4BDC-8EE8-0E26EE575B78}" type="datetime1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0CD20A0-509B-AA54-A0E8-F3719B984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35A32CB-3092-6A70-8CD1-BEB2DF8F7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789E-A317-416E-9CCA-F29AB3AFFF3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93669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C7215E-7E75-9802-A2AF-650F861C7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FC47C58-0A16-0A7D-253D-B9621AC93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0A0FF6E-E141-AA2C-88E0-2E53BBE99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5F77C-9CCF-45B8-9F66-5B54F11FE3C7}" type="datetime1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C5F42C3-A9E3-72F3-ECFF-F00F16F83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C73A486-4FC2-6A68-E533-D648F898C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789E-A317-416E-9CCA-F29AB3AFFF3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765616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193E18-99FA-E40E-6048-308CB337D2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9ABE2B1-F4B8-FFB7-9505-394867EE02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EB4374D-8627-3B9B-9EDE-57FF0CB1D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4D6DD-5607-4D18-B728-74098D712864}" type="datetime1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0D032B0-ED5A-6D7D-2810-0969530FD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920B8C1-0D7D-8567-8D83-DB4ACC8AC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789E-A317-416E-9CCA-F29AB3AFFF3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74200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F8E864-ACDB-998E-A0A7-3BA1602F1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7F5FBBB-9001-8063-7FB5-8533D6CCB9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F650580-C6DB-E49F-0094-3D239E6362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B705934-0FD6-D539-DB87-F5E377021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3203A-7756-4F8D-B8B0-7F9D79B62514}" type="datetime1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CC52E3C-288A-1F06-7987-7BC71B42A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D9E32C2-3909-B6A0-D3A3-871B848C7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789E-A317-416E-9CCA-F29AB3AFFF3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10751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7AD42B8-BC9A-760E-24D1-295DFF5B8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85F76C1-017B-E59B-F75C-97CEE7ED0B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574D5F1-CB95-A116-AAF8-C8B38AEBB3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6289D4F0-DE2E-2456-3893-DAF7CE4006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C428E33-320C-0D1E-8E72-1E8CA198363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01EFEA6-64BD-7416-4917-2361BCADA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6FADB-FEA3-45B9-81B0-4BD05F1D3AD8}" type="datetime1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636D827-3F78-1147-F489-1F3A0DAFD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F971D1C-B498-624C-DED1-16BEB00913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789E-A317-416E-9CCA-F29AB3AFFF3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0757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32350D-E407-2609-D59B-E39C99DB7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F99C812-6786-530C-6431-5F60A78AB4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284C7-FC64-4539-A68F-BFCDC7E7F09D}" type="datetime1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437FED2-DAE1-D625-3536-BAAE00DF1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CFB48E2-0707-1216-55BC-D994E065F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789E-A317-416E-9CCA-F29AB3AFFF3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038626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F74A7E0-C4AB-593F-B7B7-F185D879C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DE782-C75A-4358-B518-8A45C0274B50}" type="datetime1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940DF0E-12C4-4FB0-0009-99D1C6D2D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868A500-0C6D-759D-FB99-238C541FB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789E-A317-416E-9CCA-F29AB3AFFF3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34581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6E8B39-F536-CA6B-69E9-4FD8CE3B8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204CD06-B3DB-1B61-0C3C-4DCDEBD763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6A4DB62-6F1E-70E6-E4F2-C5E792CE45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CB8C516-EDF4-C4C9-0607-684C0F2C4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ACF39-1BD6-484B-AD11-CA12D63C0814}" type="datetime1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EE95D2B-4B0A-9ED3-B082-769B224B5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3138D6B-5989-7E37-55D0-4E0826FEC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789E-A317-416E-9CCA-F29AB3AFFF3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3090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C4D8E9-2F8D-9059-A516-00099CC79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345ADBC-7480-C510-0AD8-F3DB80D5A2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B03A823-4F98-94C0-65D6-A68D064B43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22DDCB5-FD74-63C9-5BA6-9C7F4AE41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B4B97-80C2-4B5C-B593-764DDBEBF969}" type="datetime1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2CF0B35-F707-91DA-9C06-4B3C3FE2F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231D4B2-327B-45BB-E536-94F7CA7013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789E-A317-416E-9CCA-F29AB3AFFF3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73622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E95106-A934-41D2-40BF-E710A1846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EA88BEB-F2D3-FEFD-46A9-8BA315C6BC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9B38755-0795-98F3-530B-2E4C97EA70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7C268-0427-488E-A72D-C4893179D272}" type="datetime1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6FBB00-B92A-B096-ECD5-9D72509FD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F1F5C52-DC08-D4A7-8EAD-3DCF5C9A9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789E-A317-416E-9CCA-F29AB3AFFF3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0816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140B0D9-5B8A-BF01-D43E-90C5326CD4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A8E5CC1-A914-308A-E0A0-CF91001070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22FFC8-CFAA-59BA-570A-51B79614A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B7EDA-2F3B-4EFF-899F-73DCDD18D653}" type="datetime1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24A2A5B-3945-BF97-2067-A57840D1D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D05D557-C98A-3834-53F2-153B56043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789E-A317-416E-9CCA-F29AB3AFFF3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3292156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CF5406C-B9FD-6E5C-315E-A900F2944F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0C18902-BDB1-C9CF-D48A-EB1294210E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3BC2C35-C009-CDEC-C0E8-DC9A41D931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A279C8-6420-4477-A13D-2997E50381CB}" type="datetime1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25D989C-182F-1C02-87D4-0BDB20A09C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E96C684-B327-50F2-7621-572FE9324E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D1789E-A317-416E-9CCA-F29AB3AFFF3D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127523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F51CFC-CF0C-E2F5-23AF-9C2A02C62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E2A5B59-9607-174C-87A3-4886CC907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056909" cy="1325563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zh-CN" altLang="en-US" sz="4800" b="1" dirty="0">
                <a:solidFill>
                  <a:srgbClr val="0B3B71"/>
                </a:solidFill>
                <a:latin typeface="Arial" panose="020B0503020204020204" pitchFamily="34" charset="-122"/>
                <a:ea typeface="微软雅黑" panose="020B0503020204020204" pitchFamily="34" charset="-122"/>
              </a:rPr>
              <a:t>典型高约束运行模式聚变堆面临的重要挑战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4CC8229-E450-1F04-0484-A4518DE4F0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068" y="1427578"/>
            <a:ext cx="6672532" cy="1900986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p"/>
            </a:pPr>
            <a:r>
              <a:rPr lang="zh-CN" altLang="en-US" dirty="0" sz="2400" b="0">
                <a:solidFill>
                  <a:srgbClr val="333333"/>
                </a:solidFill>
                <a:latin typeface="Arial" panose="020B0503020204020204" pitchFamily="34" charset="-122"/>
                <a:ea typeface="微软雅黑" panose="020B0503020204020204" pitchFamily="34" charset="-122"/>
              </a:rPr>
              <a:t>进入高约束模需要高辅助加热功率（</a:t>
            </a:r>
            <a:r>
              <a:rPr lang="en-US" altLang="zh-CN" dirty="0" err="1" sz="2400" b="0">
                <a:solidFill>
                  <a:srgbClr val="333333"/>
                </a:solidFill>
                <a:latin typeface="Arial" panose="020B0503020204020204" pitchFamily="34" charset="-122"/>
                <a:ea typeface="微软雅黑" panose="020B0503020204020204" pitchFamily="34" charset="-122"/>
              </a:rPr>
              <a:t>P_ext</a:t>
            </a:r>
            <a:r>
              <a:rPr lang="zh-CN" altLang="en-US" dirty="0" sz="2400" b="0">
                <a:solidFill>
                  <a:srgbClr val="333333"/>
                </a:solidFill>
                <a:latin typeface="Arial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p"/>
            </a:pPr>
            <a:r>
              <a:rPr lang="zh-CN" altLang="en-US" dirty="0" sz="2400" b="0">
                <a:solidFill>
                  <a:srgbClr val="333333"/>
                </a:solidFill>
                <a:latin typeface="Arial" panose="020B0503020204020204" pitchFamily="34" charset="-122"/>
                <a:ea typeface="微软雅黑" panose="020B0503020204020204" pitchFamily="34" charset="-122"/>
              </a:rPr>
              <a:t>高加热功率需要偏滤器脱靶运行解决稳态热负荷问题</a:t>
            </a:r>
            <a:endParaRPr lang="en-US" altLang="zh-CN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p"/>
            </a:pPr>
            <a:r>
              <a:rPr lang="en-US" altLang="zh-CN" dirty="0" sz="2400" b="0">
                <a:solidFill>
                  <a:srgbClr val="333333"/>
                </a:solidFill>
                <a:latin typeface="Arial" panose="020B0503020204020204" pitchFamily="34" charset="-122"/>
                <a:ea typeface="微软雅黑" panose="020B0503020204020204" pitchFamily="34" charset="-122"/>
              </a:rPr>
              <a:t>ELM</a:t>
            </a:r>
            <a:r>
              <a:rPr lang="zh-CN" altLang="en-US" dirty="0" sz="2400" b="0">
                <a:solidFill>
                  <a:srgbClr val="333333"/>
                </a:solidFill>
                <a:latin typeface="Arial" panose="020B0503020204020204" pitchFamily="34" charset="-122"/>
                <a:ea typeface="微软雅黑" panose="020B0503020204020204" pitchFamily="34" charset="-122"/>
              </a:rPr>
              <a:t>爆发产生巨大瞬态热负荷</a:t>
            </a:r>
            <a:endParaRPr lang="en-US" altLang="zh-CN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BCA9F83-5447-7384-BA15-AB259D611384}"/>
              </a:ext>
            </a:extLst>
          </p:cNvPr>
          <p:cNvSpPr txBox="1"/>
          <p:nvPr/>
        </p:nvSpPr>
        <p:spPr>
          <a:xfrm>
            <a:off x="414068" y="2998153"/>
            <a:ext cx="6804127" cy="2432269"/>
          </a:xfrm>
          <a:prstGeom prst="rect">
            <a:avLst/>
          </a:prstGeom>
          <a:noFill/>
        </p:spPr>
        <p:txBody>
          <a:bodyPr wrap="square" numCol="2">
            <a:spAutoFit/>
          </a:bodyPr>
          <a:lstStyle/>
          <a:p>
            <a:pPr marL="0" lvl="1"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zh-CN" altLang="en-US" sz="4800" b="1" dirty="0">
                <a:solidFill>
                  <a:srgbClr val="0B3B71"/>
                </a:solidFill>
                <a:latin typeface="Arial" panose="020B0503020204020204" pitchFamily="34" charset="-122"/>
                <a:ea typeface="微软雅黑" panose="020B0503020204020204" pitchFamily="34" charset="-122"/>
              </a:rPr>
              <a:t>科学挑战</a:t>
            </a:r>
            <a:endParaRPr lang="en-US" altLang="zh-CN" sz="28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lvl="1"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zh-CN" altLang="en-US" sz="4800" dirty="0" b="1">
                <a:solidFill>
                  <a:srgbClr val="0B3B71"/>
                </a:solidFill>
                <a:latin typeface="Arial" panose="020B0503020204020204" pitchFamily="34" charset="-122"/>
                <a:ea typeface="微软雅黑" panose="020B0503020204020204" pitchFamily="34" charset="-122"/>
              </a:rPr>
              <a:t>难以提高聚变增益</a:t>
            </a:r>
            <a:r>
              <a:rPr lang="en-US" altLang="zh-CN" sz="4800" dirty="0" b="1">
                <a:solidFill>
                  <a:srgbClr val="0B3B71"/>
                </a:solidFill>
                <a:latin typeface="Arial" panose="020B0503020204020204" pitchFamily="34" charset="-122"/>
                <a:ea typeface="微软雅黑" panose="020B0503020204020204" pitchFamily="34" charset="-122"/>
              </a:rPr>
              <a:t>Q=</a:t>
            </a:r>
            <a:r>
              <a:rPr lang="en-US" altLang="zh-CN" sz="4800" dirty="0" err="1" b="1">
                <a:solidFill>
                  <a:srgbClr val="0B3B71"/>
                </a:solidFill>
                <a:latin typeface="Arial" panose="020B0503020204020204" pitchFamily="34" charset="-122"/>
                <a:ea typeface="微软雅黑" panose="020B0503020204020204" pitchFamily="34" charset="-122"/>
              </a:rPr>
              <a:t>P_fus</a:t>
            </a:r>
            <a:r>
              <a:rPr lang="en-US" altLang="zh-CN" sz="4800" dirty="0" b="1">
                <a:solidFill>
                  <a:srgbClr val="0B3B71"/>
                </a:solidFill>
                <a:latin typeface="Arial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en-US" altLang="zh-CN" sz="4800" dirty="0" err="1" b="1">
                <a:solidFill>
                  <a:srgbClr val="0B3B71"/>
                </a:solidFill>
                <a:latin typeface="Arial" panose="020B0503020204020204" pitchFamily="34" charset="-122"/>
                <a:ea typeface="微软雅黑" panose="020B0503020204020204" pitchFamily="34" charset="-122"/>
              </a:rPr>
              <a:t>P_ext</a:t>
            </a:r>
            <a:endParaRPr lang="en-US" altLang="zh-CN" sz="2400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lvl="1"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endParaRPr lang="en-US" altLang="zh-CN" sz="2800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lvl="1"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zh-CN" altLang="en-US" sz="4800" b="1" dirty="0">
                <a:solidFill>
                  <a:srgbClr val="0B3B71"/>
                </a:solidFill>
                <a:latin typeface="Arial" panose="020B0503020204020204" pitchFamily="34" charset="-122"/>
                <a:ea typeface="微软雅黑" panose="020B0503020204020204" pitchFamily="34" charset="-122"/>
              </a:rPr>
              <a:t>工程挑战</a:t>
            </a:r>
            <a:endParaRPr lang="en-US" altLang="zh-CN" sz="28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lvl="1"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zh-CN" altLang="en-US" sz="4800" dirty="0" b="1">
                <a:solidFill>
                  <a:srgbClr val="0B3B71"/>
                </a:solidFill>
                <a:latin typeface="Arial" panose="020B0503020204020204" pitchFamily="34" charset="-122"/>
                <a:ea typeface="微软雅黑" panose="020B0503020204020204" pitchFamily="34" charset="-122"/>
              </a:rPr>
              <a:t>高辅助加热功率技术难、成本高；偏滤器热负荷处理难</a:t>
            </a:r>
            <a:endParaRPr lang="en-US" altLang="zh-CN" sz="2400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0A05777-B8CD-D8D8-F7B0-3A8916702FFB}"/>
              </a:ext>
            </a:extLst>
          </p:cNvPr>
          <p:cNvSpPr txBox="1"/>
          <p:nvPr/>
        </p:nvSpPr>
        <p:spPr>
          <a:xfrm>
            <a:off x="1416168" y="5303155"/>
            <a:ext cx="4976976" cy="1310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indent="0"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zh-CN" altLang="en-US" sz="4800" b="1" dirty="0">
                <a:solidFill>
                  <a:srgbClr val="0B3B71"/>
                </a:solidFill>
                <a:latin typeface="Arial" panose="020B0503020204020204" pitchFamily="34" charset="-122"/>
                <a:ea typeface="微软雅黑" panose="020B0503020204020204" pitchFamily="34" charset="-122"/>
              </a:rPr>
              <a:t>亟需探索实现高聚变性能的其它方案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7CD9FA2-5F0E-1D88-9A13-9808FCDE9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86468" y="5958303"/>
            <a:ext cx="2022161" cy="365125"/>
          </a:xfrm>
        </p:spPr>
        <p:txBody>
          <a:bodyPr/>
          <a:lstStyle/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fld id="{6BD1789E-A317-416E-9CCA-F29AB3AFFF3D}" type="slidenum">
              <a:rPr lang="zh-CN" altLang="en-US" smtClean="0"/>
              <a:t>1</a:t>
            </a:fld>
            <a:endParaRPr lang="zh-CN" altLang="en-US"/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BFEF0E60-4166-E73F-D2B7-3CF4F0EF2A70}"/>
              </a:ext>
            </a:extLst>
          </p:cNvPr>
          <p:cNvSpPr txBox="1">
            <a:spLocks/>
          </p:cNvSpPr>
          <p:nvPr/>
        </p:nvSpPr>
        <p:spPr>
          <a:xfrm>
            <a:off x="7218194" y="365125"/>
            <a:ext cx="4135605" cy="1325563"/>
          </a:xfrm>
          <a:prstGeom prst="rect">
            <a:avLst/>
          </a:prstGeom>
        </p:spPr>
        <p:txBody>
          <a:bodyPr vert="horz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zh-CN" altLang="en-US" sz="4800" b="1">
                <a:solidFill>
                  <a:srgbClr val="0B3B71"/>
                </a:solidFill>
                <a:latin typeface="Arial" panose="020B0503020204020204" pitchFamily="34" charset="-122"/>
                <a:ea typeface="微软雅黑" panose="020B0503020204020204" pitchFamily="34" charset="-122"/>
              </a:rPr>
              <a:t>强磁场、反三角、高增益</a:t>
            </a:r>
            <a:endParaRPr lang="zh-CN" altLang="en-US" sz="36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内容占位符 2">
            <a:extLst>
              <a:ext uri="{FF2B5EF4-FFF2-40B4-BE49-F238E27FC236}">
                <a16:creationId xmlns:a16="http://schemas.microsoft.com/office/drawing/2014/main" id="{D32D796F-7684-7E96-8798-3B04B11C1AA3}"/>
              </a:ext>
            </a:extLst>
          </p:cNvPr>
          <p:cNvSpPr txBox="1">
            <a:spLocks/>
          </p:cNvSpPr>
          <p:nvPr/>
        </p:nvSpPr>
        <p:spPr>
          <a:xfrm>
            <a:off x="7349789" y="1653246"/>
            <a:ext cx="4352167" cy="3551507"/>
          </a:xfrm>
          <a:prstGeom prst="rect">
            <a:avLst/>
          </a:prstGeom>
        </p:spPr>
        <p:txBody>
          <a:bodyPr vert="horz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p"/>
            </a:pPr>
            <a:r>
              <a:rPr lang="zh-CN" altLang="en-US" b="1" dirty="0" sz="4800">
                <a:solidFill>
                  <a:srgbClr val="0B3B71"/>
                </a:solidFill>
                <a:latin typeface="Arial" panose="020B0503020204020204" pitchFamily="34" charset="-122"/>
                <a:ea typeface="微软雅黑" panose="020B0503020204020204" pitchFamily="34" charset="-122"/>
              </a:rPr>
              <a:t>强磁场</a:t>
            </a:r>
            <a:r>
              <a:rPr lang="zh-CN" altLang="en-US" dirty="0" sz="4800" b="1">
                <a:solidFill>
                  <a:srgbClr val="0B3B71"/>
                </a:solidFill>
                <a:latin typeface="Arial" panose="020B0503020204020204" pitchFamily="34" charset="-122"/>
                <a:ea typeface="微软雅黑" panose="020B0503020204020204" pitchFamily="34" charset="-122"/>
              </a:rPr>
              <a:t>提高欧姆加热，约束性能好</a:t>
            </a:r>
            <a:endParaRPr lang="en-US" altLang="zh-CN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p"/>
            </a:pPr>
            <a:r>
              <a:rPr lang="zh-CN" altLang="en-US" b="1" dirty="0" sz="4800">
                <a:solidFill>
                  <a:srgbClr val="0B3B71"/>
                </a:solidFill>
                <a:latin typeface="Arial" panose="020B0503020204020204" pitchFamily="34" charset="-122"/>
                <a:ea typeface="微软雅黑" panose="020B0503020204020204" pitchFamily="34" charset="-122"/>
              </a:rPr>
              <a:t>反三角</a:t>
            </a:r>
            <a:r>
              <a:rPr lang="zh-CN" altLang="en-US" dirty="0" sz="4800" b="1">
                <a:solidFill>
                  <a:srgbClr val="0B3B71"/>
                </a:solidFill>
                <a:latin typeface="Arial" panose="020B0503020204020204" pitchFamily="34" charset="-122"/>
                <a:ea typeface="微软雅黑" panose="020B0503020204020204" pitchFamily="34" charset="-122"/>
              </a:rPr>
              <a:t>可以在无需进入高约束运行模式的情况下实现良好的约束性能，且</a:t>
            </a:r>
            <a:endParaRPr lang="en-US" altLang="zh-CN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zh-CN" altLang="en-US" dirty="0" sz="4800" b="1">
                <a:solidFill>
                  <a:srgbClr val="0B3B71"/>
                </a:solidFill>
                <a:latin typeface="Arial" panose="020B0503020204020204" pitchFamily="34" charset="-122"/>
                <a:ea typeface="微软雅黑" panose="020B0503020204020204" pitchFamily="34" charset="-122"/>
              </a:rPr>
              <a:t>无</a:t>
            </a:r>
            <a:r>
              <a:rPr lang="en-US" altLang="zh-CN" dirty="0" sz="4800" b="1">
                <a:solidFill>
                  <a:srgbClr val="0B3B71"/>
                </a:solidFill>
                <a:latin typeface="Arial" panose="020B0503020204020204" pitchFamily="34" charset="-122"/>
                <a:ea typeface="微软雅黑" panose="020B0503020204020204" pitchFamily="34" charset="-122"/>
              </a:rPr>
              <a:t>ELM</a:t>
            </a:r>
            <a:r>
              <a:rPr lang="zh-CN" altLang="en-US" dirty="0" sz="4800" b="1">
                <a:solidFill>
                  <a:srgbClr val="0B3B71"/>
                </a:solidFill>
                <a:latin typeface="Arial" panose="020B0503020204020204" pitchFamily="34" charset="-122"/>
                <a:ea typeface="微软雅黑" panose="020B0503020204020204" pitchFamily="34" charset="-122"/>
              </a:rPr>
              <a:t>爆发带来的瞬态热负荷问题</a:t>
            </a:r>
            <a:endParaRPr lang="en-US" altLang="zh-CN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zh-CN" altLang="en-US" dirty="0" sz="4800" b="1">
                <a:solidFill>
                  <a:srgbClr val="0B3B71"/>
                </a:solidFill>
                <a:latin typeface="Arial" panose="020B0503020204020204" pitchFamily="34" charset="-122"/>
                <a:ea typeface="微软雅黑" panose="020B0503020204020204" pitchFamily="34" charset="-122"/>
              </a:rPr>
              <a:t>无需高辅助加热功率</a:t>
            </a:r>
            <a:endParaRPr lang="en-US" altLang="zh-CN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zh-CN" altLang="en-US" dirty="0" sz="4800" b="1">
                <a:solidFill>
                  <a:srgbClr val="0B3B71"/>
                </a:solidFill>
                <a:latin typeface="Arial" panose="020B0503020204020204" pitchFamily="34" charset="-122"/>
                <a:ea typeface="微软雅黑" panose="020B0503020204020204" pitchFamily="34" charset="-122"/>
              </a:rPr>
              <a:t>稳态热负荷也可以减轻</a:t>
            </a:r>
            <a:endParaRPr lang="zh-CN" altLang="en-US" sz="28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灯片编号占位符 3">
            <a:extLst>
              <a:ext uri="{FF2B5EF4-FFF2-40B4-BE49-F238E27FC236}">
                <a16:creationId xmlns:a16="http://schemas.microsoft.com/office/drawing/2014/main" id="{EB5F5BDF-13A5-4C4D-CE41-FF1A5B4DC12E}"/>
              </a:ext>
            </a:extLst>
          </p:cNvPr>
          <p:cNvSpPr txBox="1">
            <a:spLocks/>
          </p:cNvSpPr>
          <p:nvPr/>
        </p:nvSpPr>
        <p:spPr>
          <a:xfrm>
            <a:off x="10274946" y="6356350"/>
            <a:ext cx="1078853" cy="365125"/>
          </a:xfrm>
          <a:prstGeom prst="rect">
            <a:avLst/>
          </a:prstGeom>
        </p:spPr>
        <p:txBody>
          <a:bodyPr vert="horz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fld id="{6BD1789E-A317-416E-9CCA-F29AB3AFFF3D}" type="slidenum">
              <a:rPr lang="zh-CN" altLang="en-US" smtClean="0"/>
              <a:pPr/>
              <a:t>1</a:t>
            </a:fld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2DE5EF2-155F-CEDB-1C4B-E0BFC49F2F0B}"/>
              </a:ext>
            </a:extLst>
          </p:cNvPr>
          <p:cNvSpPr txBox="1"/>
          <p:nvPr/>
        </p:nvSpPr>
        <p:spPr>
          <a:xfrm>
            <a:off x="7523943" y="5265804"/>
            <a:ext cx="4178013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zh-CN" altLang="en-US" sz="4800" b="1" dirty="0">
                <a:solidFill>
                  <a:srgbClr val="0B3B71"/>
                </a:solidFill>
                <a:latin typeface="Arial" panose="020B0503020204020204" pitchFamily="34" charset="-122"/>
                <a:ea typeface="微软雅黑" panose="020B0503020204020204" pitchFamily="34" charset="-122"/>
              </a:rPr>
              <a:t>强磁场、反三角 </a:t>
            </a:r>
            <a:r>
              <a:rPr lang="en-US" altLang="zh-CN" sz="4800" b="1" dirty="0">
                <a:solidFill>
                  <a:srgbClr val="0B3B71"/>
                </a:solidFill>
                <a:latin typeface="Arial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 </a:t>
            </a:r>
            <a:r>
              <a:rPr lang="zh-CN" altLang="en-US" sz="4800" b="1" dirty="0">
                <a:solidFill>
                  <a:srgbClr val="0B3B71"/>
                </a:solidFill>
                <a:latin typeface="Arial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有望实现无</a:t>
            </a:r>
            <a:r>
              <a:rPr lang="en-US" altLang="zh-CN" sz="4800" b="1" dirty="0">
                <a:solidFill>
                  <a:srgbClr val="0B3B71"/>
                </a:solidFill>
                <a:latin typeface="Arial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/</a:t>
            </a:r>
            <a:r>
              <a:rPr lang="zh-CN" altLang="en-US" sz="4800" b="1" dirty="0">
                <a:solidFill>
                  <a:srgbClr val="0B3B71"/>
                </a:solidFill>
                <a:latin typeface="Arial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低辅助加热情况下的高增益聚变堆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6449105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2007</TotalTime>
  <Words>159</Words>
  <Application>Microsoft Office PowerPoint</Application>
  <PresentationFormat>宽屏</PresentationFormat>
  <Paragraphs>19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等线</vt:lpstr>
      <vt:lpstr>等线 Light</vt:lpstr>
      <vt:lpstr>微软雅黑</vt:lpstr>
      <vt:lpstr>Arial</vt:lpstr>
      <vt:lpstr>Wingdings</vt:lpstr>
      <vt:lpstr>Office 主题​​</vt:lpstr>
      <vt:lpstr>典型高约束运行模式聚变堆面临的重要挑战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 wang</dc:creator>
  <cp:lastModifiedBy>乐群 蒋</cp:lastModifiedBy>
  <cp:revision>13</cp:revision>
  <dcterms:created xsi:type="dcterms:W3CDTF">2025-12-03T12:59:28Z</dcterms:created>
  <dcterms:modified xsi:type="dcterms:W3CDTF">2025-12-12T15:12:58Z</dcterms:modified>
</cp:coreProperties>
</file>