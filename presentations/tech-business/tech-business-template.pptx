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7FA"/>
          </a:solidFill>
          <a:ln>
            <a:solidFill>
              <a:srgbClr val="F5F7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5143500"/>
          </a:xfrm>
          <a:prstGeom prst="rect">
            <a:avLst/>
          </a:prstGeom>
          <a:solidFill>
            <a:srgbClr val="0CAAAA"/>
          </a:solidFill>
          <a:ln>
            <a:solidFill>
              <a:srgbClr val="0C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371600"/>
            <a:ext cx="7040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000" b="1">
                <a:solidFill>
                  <a:srgbClr val="0B3B71"/>
                </a:solidFill>
              </a:defRPr>
            </a:pPr>
            <a:r>
              <a:t>科技商业演示模板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926080"/>
            <a:ext cx="70408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>
                <a:solidFill>
                  <a:srgbClr val="333333"/>
                </a:solidFill>
              </a:defRPr>
            </a:pPr>
            <a:r>
              <a:t>Tech-Business Presentation Template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CAAAA"/>
          </a:solidFill>
          <a:ln>
            <a:solidFill>
              <a:srgbClr val="0C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866851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B3B71"/>
                </a:solidFill>
              </a:defRPr>
            </a:pPr>
            <a:r>
              <a:t>目录</a:t>
            </a:r>
          </a:p>
        </p:txBody>
      </p:sp>
      <p:sp>
        <p:nvSpPr>
          <p:cNvPr id="5" name="Oval 4"/>
          <p:cNvSpPr/>
          <p:nvPr/>
        </p:nvSpPr>
        <p:spPr>
          <a:xfrm>
            <a:off x="914400" y="1872691"/>
            <a:ext cx="365760" cy="365760"/>
          </a:xfrm>
          <a:prstGeom prst="ellipse">
            <a:avLst/>
          </a:prstGeom>
          <a:solidFill>
            <a:srgbClr val="0B3B71"/>
          </a:solidFill>
          <a:ln>
            <a:solidFill>
              <a:srgbClr val="0B3B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872691"/>
            <a:ext cx="67665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400">
                <a:solidFill>
                  <a:srgbClr val="333333"/>
                </a:solidFill>
              </a:defRPr>
            </a:pPr>
            <a:r>
              <a:t>项目概述与背景</a:t>
            </a:r>
          </a:p>
        </p:txBody>
      </p:sp>
      <p:sp>
        <p:nvSpPr>
          <p:cNvPr id="7" name="Oval 6"/>
          <p:cNvSpPr/>
          <p:nvPr/>
        </p:nvSpPr>
        <p:spPr>
          <a:xfrm>
            <a:off x="914400" y="2421331"/>
            <a:ext cx="365760" cy="365760"/>
          </a:xfrm>
          <a:prstGeom prst="ellipse">
            <a:avLst/>
          </a:prstGeom>
          <a:solidFill>
            <a:srgbClr val="0B3B71"/>
          </a:solidFill>
          <a:ln>
            <a:solidFill>
              <a:srgbClr val="0B3B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21331"/>
            <a:ext cx="67665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400">
                <a:solidFill>
                  <a:srgbClr val="333333"/>
                </a:solidFill>
              </a:defRPr>
            </a:pPr>
            <a:r>
              <a:t>核心功能与特性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2969971"/>
            <a:ext cx="365760" cy="365760"/>
          </a:xfrm>
          <a:prstGeom prst="ellipse">
            <a:avLst/>
          </a:prstGeom>
          <a:solidFill>
            <a:srgbClr val="0B3B71"/>
          </a:solidFill>
          <a:ln>
            <a:solidFill>
              <a:srgbClr val="0B3B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969971"/>
            <a:ext cx="67665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400">
                <a:solidFill>
                  <a:srgbClr val="333333"/>
                </a:solidFill>
              </a:defRPr>
            </a:pPr>
            <a:r>
              <a:t>技术架构方案</a:t>
            </a:r>
          </a:p>
        </p:txBody>
      </p:sp>
      <p:sp>
        <p:nvSpPr>
          <p:cNvPr id="11" name="Oval 10"/>
          <p:cNvSpPr/>
          <p:nvPr/>
        </p:nvSpPr>
        <p:spPr>
          <a:xfrm>
            <a:off x="914400" y="3518611"/>
            <a:ext cx="365760" cy="365760"/>
          </a:xfrm>
          <a:prstGeom prst="ellipse">
            <a:avLst/>
          </a:prstGeom>
          <a:solidFill>
            <a:srgbClr val="0B3B71"/>
          </a:solidFill>
          <a:ln>
            <a:solidFill>
              <a:srgbClr val="0B3B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3518611"/>
            <a:ext cx="67665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400">
                <a:solidFill>
                  <a:srgbClr val="333333"/>
                </a:solidFill>
              </a:defRPr>
            </a:pPr>
            <a:r>
              <a:t>实施计划与时间表</a:t>
            </a:r>
          </a:p>
        </p:txBody>
      </p:sp>
      <p:sp>
        <p:nvSpPr>
          <p:cNvPr id="13" name="Oval 12"/>
          <p:cNvSpPr/>
          <p:nvPr/>
        </p:nvSpPr>
        <p:spPr>
          <a:xfrm>
            <a:off x="914400" y="4067251"/>
            <a:ext cx="365760" cy="365760"/>
          </a:xfrm>
          <a:prstGeom prst="ellipse">
            <a:avLst/>
          </a:prstGeom>
          <a:solidFill>
            <a:srgbClr val="0B3B71"/>
          </a:solidFill>
          <a:ln>
            <a:solidFill>
              <a:srgbClr val="0B3B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4067251"/>
            <a:ext cx="67665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400">
                <a:solidFill>
                  <a:srgbClr val="333333"/>
                </a:solidFill>
              </a:defRPr>
            </a:pPr>
            <a:r>
              <a:t>总结与展望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CAAAA"/>
          </a:solidFill>
          <a:ln>
            <a:solidFill>
              <a:srgbClr val="0C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866851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000" b="1">
                <a:solidFill>
                  <a:srgbClr val="0B3B71"/>
                </a:solidFill>
              </a:defRPr>
            </a:pPr>
            <a:r>
              <a:t>项目概述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781251"/>
            <a:ext cx="7132320" cy="2678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1000"/>
              </a:spcAft>
              <a:defRPr sz="2400">
                <a:solidFill>
                  <a:srgbClr val="333333"/>
                </a:solidFill>
              </a:defRPr>
            </a:pPr>
            <a:r>
              <a:t>• 项目背景：响应市场需求，提供创新解决方案</a:t>
            </a:r>
          </a:p>
          <a:p>
            <a:pPr>
              <a:spcBef>
                <a:spcPts val="1000"/>
              </a:spcBef>
              <a:spcAft>
                <a:spcPts val="1000"/>
              </a:spcAft>
              <a:defRPr sz="2400">
                <a:solidFill>
                  <a:srgbClr val="333333"/>
                </a:solidFill>
              </a:defRPr>
            </a:pPr>
            <a:r>
              <a:t>• 目标定位：成为行业领先的技术服务平台</a:t>
            </a:r>
          </a:p>
          <a:p>
            <a:pPr>
              <a:spcBef>
                <a:spcPts val="1000"/>
              </a:spcBef>
              <a:spcAft>
                <a:spcPts val="1000"/>
              </a:spcAft>
              <a:defRPr sz="2400">
                <a:solidFill>
                  <a:srgbClr val="333333"/>
                </a:solidFill>
              </a:defRPr>
            </a:pPr>
            <a:r>
              <a:t>• 核心价值：提升效率、降低成本、优化体验</a:t>
            </a:r>
          </a:p>
          <a:p>
            <a:pPr>
              <a:spcBef>
                <a:spcPts val="1000"/>
              </a:spcBef>
              <a:spcAft>
                <a:spcPts val="1000"/>
              </a:spcAft>
              <a:defRPr sz="2400">
                <a:solidFill>
                  <a:srgbClr val="333333"/>
                </a:solidFill>
              </a:defRPr>
            </a:pPr>
            <a:r>
              <a:t>• 预期成果：实现业务增长30%以上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CAAAA"/>
          </a:solidFill>
          <a:ln>
            <a:solidFill>
              <a:srgbClr val="0C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866851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B3B71"/>
                </a:solidFill>
              </a:defRPr>
            </a:pPr>
            <a:r>
              <a:t>核心功能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81251"/>
            <a:ext cx="3520440" cy="2678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• 智能数据分析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• 实时监控预警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• 自动化流程管理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• 多维度报表生成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09160" y="1781251"/>
            <a:ext cx="3520440" cy="2678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• 云端协同办公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• 移动端随时访问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• 安全加密传输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• 7×24小时技术支持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CAAAA"/>
          </a:solidFill>
          <a:ln>
            <a:solidFill>
              <a:srgbClr val="0C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866851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000" b="1">
                <a:solidFill>
                  <a:srgbClr val="0B3B71"/>
                </a:solidFill>
              </a:defRPr>
            </a:pPr>
            <a:r>
              <a:t>技术架构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781251"/>
            <a:ext cx="7132320" cy="2678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1000"/>
              </a:spcAft>
              <a:defRPr sz="2400">
                <a:solidFill>
                  <a:srgbClr val="333333"/>
                </a:solidFill>
              </a:defRPr>
            </a:pPr>
            <a:r>
              <a:t>• 前端：React + TypeScript 响应式设计</a:t>
            </a:r>
          </a:p>
          <a:p>
            <a:pPr>
              <a:spcBef>
                <a:spcPts val="1000"/>
              </a:spcBef>
              <a:spcAft>
                <a:spcPts val="1000"/>
              </a:spcAft>
              <a:defRPr sz="2400">
                <a:solidFill>
                  <a:srgbClr val="333333"/>
                </a:solidFill>
              </a:defRPr>
            </a:pPr>
            <a:r>
              <a:t>• 后端：微服务架构，支持高并发处理</a:t>
            </a:r>
          </a:p>
          <a:p>
            <a:pPr>
              <a:spcBef>
                <a:spcPts val="1000"/>
              </a:spcBef>
              <a:spcAft>
                <a:spcPts val="1000"/>
              </a:spcAft>
              <a:defRPr sz="2400">
                <a:solidFill>
                  <a:srgbClr val="333333"/>
                </a:solidFill>
              </a:defRPr>
            </a:pPr>
            <a:r>
              <a:t>• 数据库：分布式存储，保障数据安全</a:t>
            </a:r>
          </a:p>
          <a:p>
            <a:pPr>
              <a:spcBef>
                <a:spcPts val="1000"/>
              </a:spcBef>
              <a:spcAft>
                <a:spcPts val="1000"/>
              </a:spcAft>
              <a:defRPr sz="2400">
                <a:solidFill>
                  <a:srgbClr val="333333"/>
                </a:solidFill>
              </a:defRPr>
            </a:pPr>
            <a:r>
              <a:t>• 部署：容器化部署，支持弹性扩展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3B71"/>
          </a:solidFill>
          <a:ln>
            <a:solidFill>
              <a:srgbClr val="0B3B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943600" y="914400"/>
            <a:ext cx="2743200" cy="3200400"/>
          </a:xfrm>
          <a:prstGeom prst="roundRect">
            <a:avLst/>
          </a:prstGeom>
          <a:solidFill>
            <a:srgbClr val="0C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5486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600" b="1">
                <a:solidFill>
                  <a:srgbClr val="FFFFFF"/>
                </a:solidFill>
              </a:defRPr>
            </a:pPr>
            <a:r>
              <a:t>谢谢！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FFFFFF"/>
                </a:solidFill>
              </a:defRPr>
            </a:pPr>
            <a:r>
              <a:t>期待与您的合作</a:t>
            </a:r>
            <a:br/>
            <a:r>
              <a:t>Thank you for your attention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